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b96549980e49c5" /><Relationship Type="http://schemas.openxmlformats.org/officeDocument/2006/relationships/extended-properties" Target="/docProps/app.xml" Id="R2d73dc5154254524" /><Relationship Type="http://schemas.openxmlformats.org/officeDocument/2006/relationships/officeDocument" Target="/ppt/presentation.xml" Id="R0739e1e3dfb444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9123170d494805"/>
  </p:sldMasterIdLst>
  <p:notesMasterIdLst>
    <p:notesMasterId xmlns:r="http://schemas.openxmlformats.org/officeDocument/2006/relationships" r:id="R67ee568553314474"/>
  </p:notesMasterIdLst>
  <p:sldIdLst>
    <p:sldId xmlns:r="http://schemas.openxmlformats.org/officeDocument/2006/relationships" id="256" r:id="Rc1ebb21f93e04178"/>
  </p:sldIdLst>
  <p:sldSz cx="5981700" cy="645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a7e64d69124891" /><Relationship Type="http://schemas.openxmlformats.org/officeDocument/2006/relationships/slideMaster" Target="/ppt/slideMasters/slideMaster1.xml" Id="R4d9123170d494805" /><Relationship Type="http://schemas.openxmlformats.org/officeDocument/2006/relationships/notesMaster" Target="/ppt/notesMasters/notesMaster1.xml" Id="R67ee568553314474" /><Relationship Type="http://schemas.openxmlformats.org/officeDocument/2006/relationships/presProps" Target="/ppt/presProps.xml" Id="R81377dfe4e1048c7" /><Relationship Type="http://schemas.openxmlformats.org/officeDocument/2006/relationships/tableStyles" Target="/ppt/tableStyles.xml" Id="R12c5593c2565458e" /><Relationship Type="http://schemas.openxmlformats.org/officeDocument/2006/relationships/slide" Target="/ppt/slides/slide1.xml" Id="Rc1ebb21f93e041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6fb317479447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Frame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Frame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Frame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Frame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Frame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Frame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a409187938406f" /><Relationship Type="http://schemas.openxmlformats.org/officeDocument/2006/relationships/notesMaster" Target="/ppt/notesMasters/notesMaster1.xml" Id="Rb608ac233ea042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Frame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Frame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Panel a: overall sources from S24 and duration-stratified aggregates. Panels b and c: quantile summaries from S23 notes. Thin whiskers in b are 5th-95th percentiles, not bootstrap confidence intervals.</a:t>
            </a:r>
          </a:p>
        </p:txBody>
      </p:sp>
      <p:sp>
        <p:nvSpPr>
          <p:cNvPr id="4" name="Slide Number Frame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45f1930a34e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28ac8c200848d6" /><Relationship Type="http://schemas.openxmlformats.org/officeDocument/2006/relationships/slideLayout" Target="/ppt/slideLayouts/slideLayout1.xml" Id="R450b873d5b0e4b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0b873d5b0e4b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ac062d0e949ab" /><Relationship Type="http://schemas.openxmlformats.org/officeDocument/2006/relationships/notesSlide" Target="/ppt/notesSlides/notesSlide1.xml" Id="R25fa1ca3520448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7AED2FB-A956-4195-9ECC-63B4E1F5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790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a  Source of low display within each reference event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1B645-E5B1-4F13-9D17-20305529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8743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All events</a:t>
            </a:r>
          </a:p>
          <a:p xmlns:a="http://schemas.openxmlformats.org/drawingml/2006/main">
            <a:pPr algn="l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9187 episodes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E9CE5-BC63-4339-8670-3B4A6F14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893400"/>
            <a:ext cx="2316147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4DA35-059D-4E74-A6AB-10146CB5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50550"/>
            <a:ext cx="229709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55.9%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EA26F-E66E-402D-B8C3-6C0220F3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822" y="893400"/>
            <a:ext cx="410194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CD395-9F9F-4102-862D-9A81B028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347" y="950550"/>
            <a:ext cx="39114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9.9%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FFEA3-4A25-49C5-A8B4-459342B9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016" y="893400"/>
            <a:ext cx="1417034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D53CE-A5AE-42DC-B7AD-A153E4B7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541" y="950550"/>
            <a:ext cx="139798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34.2%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BC032-E15D-4CF8-B95C-DE5357F8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4649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 to &lt;3 min</a:t>
            </a:r>
          </a:p>
          <a:p xmlns:a="http://schemas.openxmlformats.org/drawingml/2006/main">
            <a:pPr algn="l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5438 episodes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D71DD-21CB-450C-BD7E-774F300A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483950"/>
            <a:ext cx="1414929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64B5B-DE66-46B8-A514-760F0C0E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41100"/>
            <a:ext cx="139587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34.1%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31B05-A5DF-4CA3-8C94-E1E8443C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604" y="1483950"/>
            <a:ext cx="621379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81842-A99C-40C6-9358-3DED78FF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129" y="1541100"/>
            <a:ext cx="60232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15.0%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032AB-4B51-43E0-A166-5AA9CF96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84" y="1483950"/>
            <a:ext cx="2107066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AEC4F-F59C-45E0-84C8-87A23A15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509" y="1541100"/>
            <a:ext cx="208801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50.9%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BE8B1-5ADB-46BE-ACCE-0EDC33A7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0554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3 to &lt;5 min</a:t>
            </a:r>
          </a:p>
          <a:p xmlns:a="http://schemas.openxmlformats.org/drawingml/2006/main">
            <a:pPr algn="l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1931 episodes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E2A46-3590-447F-B535-FAC198E0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74500"/>
            <a:ext cx="3126306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61B61-8242-4D21-AEA6-6491D176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31650"/>
            <a:ext cx="310725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75.5%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E874D-C122-4EE6-B2F4-BD34AB1F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6981" y="2074500"/>
            <a:ext cx="204487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8A6F5-09D5-43DA-82CA-2782E560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468" y="2074500"/>
            <a:ext cx="812582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9E303-CB5C-4861-B912-6A048359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993" y="2131650"/>
            <a:ext cx="79353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19.6%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ACD6D-7A7B-4C89-B80E-F82568F3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6460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At least 5 min</a:t>
            </a:r>
          </a:p>
          <a:p xmlns:a="http://schemas.openxmlformats.org/drawingml/2006/main">
            <a:pPr algn="l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1818 episodes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9978E-2FB0-4E2B-8B72-E3CB7524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65050"/>
            <a:ext cx="414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947A4-EA17-488F-BF87-F6A3D4DB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22200"/>
            <a:ext cx="4124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100.0%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C4B9D7-C435-4825-B9F7-94353B64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269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C8C8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C8C8C"/>
                </a:solidFill>
                <a:latin typeface="Arial"/>
                <a:ea typeface="Arial"/>
                <a:cs typeface="Arial"/>
              </a:rPr>
              <a:t>Inherited low only: 4.9%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8FD52A-1D3B-4A8E-9515-46AA555F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13177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1FA0B3-1E2C-4C2E-B4CB-42AF84CA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019" y="313177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CBECF5-9054-4BCC-9E05-E94E3A9E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313177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8696BC-7DE6-41B3-9F53-A1AC0C7D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706" y="313177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CAA4FB-2F92-449A-AB92-59402141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3177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959E11-3C0E-48C5-BEE4-9F06F668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50850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Phase-averaged percentage of reference events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0D9870-DE7F-4F23-A2AB-3654696A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8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B38C18-B840-442E-9AD7-D94832EC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46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New low sample in current event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93041D-FB8A-4808-930C-1DB178DA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903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E8A08F-8849-491E-8D37-3F56E938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65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Inherited low display only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9010B7-2A39-4107-8BAB-C8C963F8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1223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7EC1BA-FF07-4D88-A3FA-898E7441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842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No low display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E864A5-AE00-444B-AE0F-33DD177D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427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b  Case-level miss proportion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03FC44-E7F8-4070-8DC9-2740463C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271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c  Within-case phase range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A5ACB4-CF2B-4481-A5C7-3FFBA6F9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513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EB4B73-B3E4-451C-A5BD-C2A57174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939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C4DB84-51FC-47C1-891D-359F5FE7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5579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F8BAA7-054F-4913-9806-C6CA3996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8" y="54939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7DDA7D-4A23-4AEB-937B-65356D3E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8" y="5579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734818-AB28-42B1-8278-CDC36294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939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94242B-5116-4AD6-BCA6-C6DD2852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79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22C306-1739-4699-8C97-2A94F24B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54939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23F9A2-DEBC-4176-8033-58F020E9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913" y="5579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4A8544-4ED1-488D-8847-07526D19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4939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54709D-5208-4E4C-8BC6-951DF485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579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D8A519-6C15-4D95-A0E3-A7A3EE92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" y="5217750"/>
            <a:ext cx="1588294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45F896-CA70-4FF6-9ADD-8544224D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" y="5170125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57F20F-E464-4AE9-8365-05C41C5B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70125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3B1562-73E2-4DB3-BE02-4188A671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89175"/>
            <a:ext cx="60483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79FAA6-B4B3-41E0-9FEA-2DD90C7F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244" y="517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C9327C-B1C1-445C-B4D0-60C8D378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22475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36.7 [24.8 to 50.2]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38E1F7-0530-4657-9044-A3FEA285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8654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Missed events per case (%)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4B1D1F-C7CF-4DA5-B042-50CCD229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13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61DF28-349A-4C3D-B4BF-B67B35E4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4939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756BD2-38E3-4D0F-AEB3-4042632A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579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A87561-398B-47BF-AEFF-CB4FC059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54939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84FC6A-F1FA-4477-BBC9-E0E60214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5579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4C14A5-6277-4070-B827-FD7CA0E6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939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BDBA05-2BF6-4B41-B4AB-0850DECD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79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F536F4C-9DEB-403C-A09D-E7C13129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54939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BA56742-2178-481F-AD21-5C454BD1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613" y="5579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55AD146-EF6C-4E6E-83CC-07D1B89D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4939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26A2BA-5BBA-4B4C-B856-23D18DC8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579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5BAA784-4F7C-484D-A9C2-C2BE1332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89175"/>
            <a:ext cx="1190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9E0230-4904-4CA0-9A1A-CECE7836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319" y="517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32BD4D4-2EEB-4BE3-B58B-E4BB1199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22475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66.7 [50.0 to 100.0]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4F522C-5FAF-4E58-A61A-B57B227B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8654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Maximum-minus-minimum (percentage points)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5F60455-BFB4-4510-A027-212FB5EF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60725"/>
            <a:ext cx="546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1899 cases; point = median; thick line = interquartile range</a:t>
            </a:r>
          </a:p>
        </p:txBody>
      </p:sp>
    </p:spTree>
    <p:extLst>
      <p:ext uri="{BB962C8B-B14F-4D97-AF65-F5344CB8AC3E}">
        <p14:creationId xmlns:p14="http://schemas.microsoft.com/office/powerpoint/2010/main" val="1255687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2026-10-04T03:17:21.7300000Z</dcterms:created>
  <dcterms:modified xsi:type="dcterms:W3CDTF">2026-10-04T03:17:21.7300000Z</dcterms:modified>
</coreProperties>
</file>