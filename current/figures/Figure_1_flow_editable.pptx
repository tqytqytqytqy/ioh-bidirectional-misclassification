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5ae226ed3444f8" /><Relationship Type="http://schemas.openxmlformats.org/officeDocument/2006/relationships/extended-properties" Target="/docProps/app.xml" Id="Rf42c24259b9945a6" /><Relationship Type="http://schemas.openxmlformats.org/officeDocument/2006/relationships/officeDocument" Target="/ppt/presentation.xml" Id="R8619737cd10d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97b859f66435e"/>
  </p:sldMasterIdLst>
  <p:notesMasterIdLst>
    <p:notesMasterId xmlns:r="http://schemas.openxmlformats.org/officeDocument/2006/relationships" r:id="Rdab6eff5d0a34f5b"/>
  </p:notesMasterIdLst>
  <p:sldIdLst>
    <p:sldId xmlns:r="http://schemas.openxmlformats.org/officeDocument/2006/relationships" id="256" r:id="R623824bd2baa443e"/>
  </p:sldIdLst>
  <p:sldSz cx="6480000" cy="57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3caac37d8142f2" /><Relationship Type="http://schemas.openxmlformats.org/officeDocument/2006/relationships/slideMaster" Target="/ppt/slideMasters/slideMaster1.xml" Id="Re3e97b859f66435e" /><Relationship Type="http://schemas.openxmlformats.org/officeDocument/2006/relationships/notesMaster" Target="/ppt/notesMasters/notesMaster1.xml" Id="Rdab6eff5d0a34f5b" /><Relationship Type="http://schemas.openxmlformats.org/officeDocument/2006/relationships/presProps" Target="/ppt/presProps.xml" Id="R2cf396b515aa47b1" /><Relationship Type="http://schemas.openxmlformats.org/officeDocument/2006/relationships/tableStyles" Target="/ppt/tableStyles.xml" Id="R6df97cb2afa04dc4" /><Relationship Type="http://schemas.openxmlformats.org/officeDocument/2006/relationships/slide" Target="/ppt/slides/slide1.xml" Id="R623824bd2baa44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05b76232d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0b6c1b25f4c34" /><Relationship Type="http://schemas.openxmlformats.org/officeDocument/2006/relationships/notesMaster" Target="/ppt/notesMasters/notesMaster1.xml" Id="R0a09aa8a283f43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Analysis populations and source-specific comparison sets. The original VitalDB flow uses sequential exclusions and retains the 2435-case intraoperative cohort. Additional complete-hour and age rules define the harmonised sets; 10 s and minute sets are not interchangeable. The same-window resolution bridge uses their intersection of record-hour positions, not one-to-one episode matching. MIMIC and SICdb supply ICU database contexts; source-specific surgical subsets do not establish a common postoperative time zero. Complete eligibility and source-semantics details are in Tables S1, S12 and S18. MAP, mean arterial pressure; ICU, intensive care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A is the original intraoperative cohort, not a new harmonised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B counts retained primary minute sets, not total source populations. No pooled cross-database cohort is shown.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original 10 s endpoint requires at least 60 s. The displayed minute endpoint requires at least 180 s below 65 mmHg under a 5 min display.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Project-relative provenance source: analysis_v10_subject_phase_release/outputs/tables/figure1_cohort_flow_source.csv</a:t>
            </a:r>
          </a:p>
          <a:p xmlns:a="http://schemas.openxmlformats.org/drawingml/2006/main">
            <a:r>
              <a:t>SHA-256: 24309b36c3d2ee37e55f8bde1721628def526814b1bc6aadb15750b440d9eb2d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Project-relative provenance source: analysis_v10_subject_phase_release/outputs/tables/initial_display_policy_sensitivity.csv</a:t>
            </a:r>
          </a:p>
          <a:p xmlns:a="http://schemas.openxmlformats.org/drawingml/2006/main">
            <a:r>
              <a:t>SHA-256: 165e1c9ad630697bc10afd3ebb58ed47fbd8a65799bab0086bf7cf345f0c05ad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Project-relative provenance source: 跨库分辨率与异质性分析_20261015/交付文件/aggregate/cohort_flow.csv</a:t>
            </a:r>
          </a:p>
          <a:p xmlns:a="http://schemas.openxmlformats.org/drawingml/2006/main">
            <a:r>
              <a:t>SHA-256: 720e36ca528dde0d0c5ffe9c4621b3f99dfb1f769246d6559e991a29d55723e1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Project-relative provenance source: 跨库分辨率与异质性分析_20261015/交付文件/aggregate/summary.csv</a:t>
            </a:r>
          </a:p>
          <a:p xmlns:a="http://schemas.openxmlformats.org/drawingml/2006/main">
            <a:r>
              <a:t>SHA-256: 6c2e01ee817e8891d5e8cd4a817d8ce51d3ab46a2453c87431230390a2a0c054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Project-relative provenance source: EJA_跨库重构修订版_20261015/code/build_documents.py</a:t>
            </a:r>
          </a:p>
          <a:p xmlns:a="http://schemas.openxmlformats.org/drawingml/2006/main">
            <a:r>
              <a:t>SHA-256: fbb6c7114179404aa85aa4301cc34a9f13177d557005f6dcdc27126b265ece96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Project-relative provenance source: EJA_跨库重构修订版_20261015/code/content.py</a:t>
            </a:r>
          </a:p>
          <a:p xmlns:a="http://schemas.openxmlformats.org/drawingml/2006/main">
            <a:r>
              <a:t>SHA-256: 43cc70351ee9ea3bec40a539e5a35bf1c2cc111396f3775878e9dbec1235e762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87723a58f42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05d35ee6649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dc5be879c47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6792267c24f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b968179314b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2bcd5db5e44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0698A7-6840-463D-9F48-2AB90C784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000" y="2176000"/>
            <a:ext cx="5184000" cy="8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2FB6A2-E417-4D08-95E0-95502B1E31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000" y="3168000"/>
            <a:ext cx="4536000" cy="6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C684B2-2B10-457C-BC3D-1CBF56E07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000" y="2400000"/>
            <a:ext cx="5184000" cy="9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BF1DAC-0A47-4D4A-8A71-DB535C4CD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500" y="448000"/>
            <a:ext cx="5751000" cy="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AF7A9D-0D8F-4E75-8814-59F2F83955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4500" y="1600000"/>
            <a:ext cx="5751000" cy="35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BD8FA0-6464-42A7-9D4E-B7CD02355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500" y="448000"/>
            <a:ext cx="5751000" cy="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26DE1D-EE40-4573-AB58-42563CA450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4500" y="1600000"/>
            <a:ext cx="2673000" cy="35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B1EAB9-D7FB-4BC0-AFCC-138D8BC219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42500" y="1600000"/>
            <a:ext cx="2673000" cy="35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94C3A1-304A-47C6-ABA2-F6909C1E9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500" y="448000"/>
            <a:ext cx="5751000" cy="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5FA719-F70C-4CB2-ADEA-EDA8B4A9C9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4500" y="1600000"/>
            <a:ext cx="2673000" cy="35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6fa9b0cc9405b" /><Relationship Type="http://schemas.openxmlformats.org/officeDocument/2006/relationships/slideLayout" Target="/ppt/slideLayouts/slideLayout1.xml" Id="Re33b0b80b4c24a62" /><Relationship Type="http://schemas.openxmlformats.org/officeDocument/2006/relationships/slideLayout" Target="/ppt/slideLayouts/slideLayout2.xml" Id="R49e32ad7010e4bcc" /><Relationship Type="http://schemas.openxmlformats.org/officeDocument/2006/relationships/slideLayout" Target="/ppt/slideLayouts/slideLayout3.xml" Id="Rf5dffc7879034f7c" /><Relationship Type="http://schemas.openxmlformats.org/officeDocument/2006/relationships/slideLayout" Target="/ppt/slideLayouts/slideLayout4.xml" Id="R9fdfbe731cca4348" /><Relationship Type="http://schemas.openxmlformats.org/officeDocument/2006/relationships/slideLayout" Target="/ppt/slideLayouts/slideLayout5.xml" Id="R84a89f52eef443d1" /><Relationship Type="http://schemas.openxmlformats.org/officeDocument/2006/relationships/slideLayout" Target="/ppt/slideLayouts/slideLayout6.xml" Id="R4654a54258a2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b0b80b4c24a62"/>
    <p:sldLayoutId xmlns:r="http://schemas.openxmlformats.org/officeDocument/2006/relationships" id="2147483650" r:id="R49e32ad7010e4bcc"/>
    <p:sldLayoutId xmlns:r="http://schemas.openxmlformats.org/officeDocument/2006/relationships" id="2147483651" r:id="Rf5dffc7879034f7c"/>
    <p:sldLayoutId xmlns:r="http://schemas.openxmlformats.org/officeDocument/2006/relationships" id="2147483652" r:id="R9fdfbe731cca4348"/>
    <p:sldLayoutId xmlns:r="http://schemas.openxmlformats.org/officeDocument/2006/relationships" id="2147483653" r:id="R84a89f52eef443d1"/>
    <p:sldLayoutId xmlns:r="http://schemas.openxmlformats.org/officeDocument/2006/relationships" id="2147483654" r:id="R4654a54258a2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64d094d5c472a" /><Relationship Type="http://schemas.openxmlformats.org/officeDocument/2006/relationships/notesSlide" Target="/ppt/notesSlides/notesSlide1.xml" Id="Re87980dfe01544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289E1-663A-4078-B6A9-D72E549C21B7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143000" y="45148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9E643-5D2E-41A8-8867-1C9AAE9EFB0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143000" y="38100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5EDB2-E872-4960-A6BC-DF017574DAE2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143000" y="31051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B2186-B7BE-43D2-B835-E2A28270A3E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143000" y="24003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5812B-47B4-4744-B5BD-C187663B552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143000" y="16954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EBFCB-7E87-4CE8-B0F4-A5C026F2735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143000" y="9906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36" name="panel-A-letter">
            <a:extLst xmlns:a="http://schemas.openxmlformats.org/drawingml/2006/main">
              <a:ext uri="{FF2B5EF4-FFF2-40B4-BE49-F238E27FC236}">
                <a16:creationId xmlns:a16="http://schemas.microsoft.com/office/drawing/2014/main" id="{4D736CDB-6E2D-4A16-B408-8B6CA2C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panel-A-label">
            <a:extLst xmlns:a="http://schemas.openxmlformats.org/drawingml/2006/main">
              <a:ext uri="{FF2B5EF4-FFF2-40B4-BE49-F238E27FC236}">
                <a16:creationId xmlns:a16="http://schemas.microsoft.com/office/drawing/2014/main" id="{947125F0-9FB2-4F12-A923-CDAF1A9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Original VitalDB cohort</a:t>
            </a:r>
          </a:p>
        </p:txBody>
      </p:sp>
      <p:sp>
        <p:nvSpPr>
          <p:cNvPr id="3" name="panel-B-letter">
            <a:extLst xmlns:a="http://schemas.openxmlformats.org/drawingml/2006/main">
              <a:ext uri="{FF2B5EF4-FFF2-40B4-BE49-F238E27FC236}">
                <a16:creationId xmlns:a16="http://schemas.microsoft.com/office/drawing/2014/main" id="{6E2D3F73-A4E7-497F-8A28-B79B410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panel-B-label">
            <a:extLst xmlns:a="http://schemas.openxmlformats.org/drawingml/2006/main">
              <a:ext uri="{FF2B5EF4-FFF2-40B4-BE49-F238E27FC236}">
                <a16:creationId xmlns:a16="http://schemas.microsoft.com/office/drawing/2014/main" id="{29622E39-AA78-457A-BB38-DFE430BB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33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Harmonised minute sets</a:t>
            </a:r>
          </a:p>
        </p:txBody>
      </p:sp>
      <p:sp>
        <p:nvSpPr>
          <p:cNvPr id="5" name="A-stage-1">
            <a:extLst xmlns:a="http://schemas.openxmlformats.org/drawingml/2006/main">
              <a:ext uri="{FF2B5EF4-FFF2-40B4-BE49-F238E27FC236}">
                <a16:creationId xmlns:a16="http://schemas.microsoft.com/office/drawing/2014/main" id="{7C772A79-3EFF-4659-9AC1-C9445394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Original VitalDB records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6,388</a:t>
            </a:r>
          </a:p>
        </p:txBody>
      </p:sp>
      <p:sp>
        <p:nvSpPr>
          <p:cNvPr id="6" name="A-stage-2">
            <a:extLst xmlns:a="http://schemas.openxmlformats.org/drawingml/2006/main">
              <a:ext uri="{FF2B5EF4-FFF2-40B4-BE49-F238E27FC236}">
                <a16:creationId xmlns:a16="http://schemas.microsoft.com/office/drawing/2014/main" id="{41CF631C-1CDE-4DBD-9908-61D3A31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7635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Adults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6,331</a:t>
            </a:r>
          </a:p>
        </p:txBody>
      </p:sp>
      <p:sp>
        <p:nvSpPr>
          <p:cNvPr id="8" name="A-exclusion-1">
            <a:extLst xmlns:a="http://schemas.openxmlformats.org/drawingml/2006/main">
              <a:ext uri="{FF2B5EF4-FFF2-40B4-BE49-F238E27FC236}">
                <a16:creationId xmlns:a16="http://schemas.microsoft.com/office/drawing/2014/main" id="{95502D6D-FCEA-4BE6-8EB0-A0A0275F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4297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 (n = 57)</a:t>
            </a:r>
          </a:p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 &lt;18 yr</a:t>
            </a:r>
          </a:p>
        </p:txBody>
      </p:sp>
      <p:cxnSp>
        <p:nvCxnSpPr>
          <p:cNvPr id="9" name="A-exclusion-link-1">
            <a:extLst xmlns:a="http://schemas.openxmlformats.org/drawingml/2006/main">
              <a:ext uri="{FF2B5EF4-FFF2-40B4-BE49-F238E27FC236}">
                <a16:creationId xmlns:a16="http://schemas.microsoft.com/office/drawing/2014/main" id="{6459AD32-FB9A-4FE3-9A64-A988A980283A}"/>
              </a:ext>
            </a:extLst>
          </p:cNvPr>
          <p:cNvCxnSpPr/>
          <p:nvPr/>
        </p:nvCxnSpPr>
        <p:spPr>
          <a:xfrm xmlns:a="http://schemas.openxmlformats.org/drawingml/2006/main">
            <a:off x="1143000" y="11334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10" name="A-stage-3">
            <a:extLst xmlns:a="http://schemas.openxmlformats.org/drawingml/2006/main">
              <a:ext uri="{FF2B5EF4-FFF2-40B4-BE49-F238E27FC236}">
                <a16:creationId xmlns:a16="http://schemas.microsoft.com/office/drawing/2014/main" id="{51845ED4-294C-4A2C-AF3C-F4F50EE3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98120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General anaesthesia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5,989</a:t>
            </a:r>
          </a:p>
        </p:txBody>
      </p:sp>
      <p:sp>
        <p:nvSpPr>
          <p:cNvPr id="12" name="A-exclusion-2">
            <a:extLst xmlns:a="http://schemas.openxmlformats.org/drawingml/2006/main">
              <a:ext uri="{FF2B5EF4-FFF2-40B4-BE49-F238E27FC236}">
                <a16:creationId xmlns:a16="http://schemas.microsoft.com/office/drawing/2014/main" id="{98F73C04-B431-4FC1-935B-9540464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478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 (n = 342)</a:t>
            </a:r>
          </a:p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general anaesthesia</a:t>
            </a:r>
          </a:p>
        </p:txBody>
      </p:sp>
      <p:cxnSp>
        <p:nvCxnSpPr>
          <p:cNvPr id="13" name="A-exclusion-link-2">
            <a:extLst xmlns:a="http://schemas.openxmlformats.org/drawingml/2006/main">
              <a:ext uri="{FF2B5EF4-FFF2-40B4-BE49-F238E27FC236}">
                <a16:creationId xmlns:a16="http://schemas.microsoft.com/office/drawing/2014/main" id="{C491D9A7-3755-4562-A2FF-47C179CAABA9}"/>
              </a:ext>
            </a:extLst>
          </p:cNvPr>
          <p:cNvCxnSpPr/>
          <p:nvPr/>
        </p:nvCxnSpPr>
        <p:spPr>
          <a:xfrm xmlns:a="http://schemas.openxmlformats.org/drawingml/2006/main">
            <a:off x="1143000" y="18383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14" name="A-stage-4">
            <a:extLst xmlns:a="http://schemas.openxmlformats.org/drawingml/2006/main">
              <a:ext uri="{FF2B5EF4-FFF2-40B4-BE49-F238E27FC236}">
                <a16:creationId xmlns:a16="http://schemas.microsoft.com/office/drawing/2014/main" id="{C4444265-FEF1-4F43-9270-82BF5C12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68605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Eligible procedures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5,559</a:t>
            </a:r>
          </a:p>
        </p:txBody>
      </p:sp>
      <p:sp>
        <p:nvSpPr>
          <p:cNvPr id="16" name="A-exclusion-3">
            <a:extLst xmlns:a="http://schemas.openxmlformats.org/drawingml/2006/main">
              <a:ext uri="{FF2B5EF4-FFF2-40B4-BE49-F238E27FC236}">
                <a16:creationId xmlns:a16="http://schemas.microsoft.com/office/drawing/2014/main" id="{D36E6719-2624-4CF9-8389-B588292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5267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 (n = 430)</a:t>
            </a:r>
          </a:p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Ineligible procedure</a:t>
            </a:r>
          </a:p>
        </p:txBody>
      </p:sp>
      <p:cxnSp>
        <p:nvCxnSpPr>
          <p:cNvPr id="17" name="A-exclusion-link-3">
            <a:extLst xmlns:a="http://schemas.openxmlformats.org/drawingml/2006/main">
              <a:ext uri="{FF2B5EF4-FFF2-40B4-BE49-F238E27FC236}">
                <a16:creationId xmlns:a16="http://schemas.microsoft.com/office/drawing/2014/main" id="{B8FF1290-31A2-465A-84D8-E9943A6D12C3}"/>
              </a:ext>
            </a:extLst>
          </p:cNvPr>
          <p:cNvCxnSpPr/>
          <p:nvPr/>
        </p:nvCxnSpPr>
        <p:spPr>
          <a:xfrm xmlns:a="http://schemas.openxmlformats.org/drawingml/2006/main">
            <a:off x="1143000" y="25431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18" name="A-stage-5">
            <a:extLst xmlns:a="http://schemas.openxmlformats.org/drawingml/2006/main">
              <a:ext uri="{FF2B5EF4-FFF2-40B4-BE49-F238E27FC236}">
                <a16:creationId xmlns:a16="http://schemas.microsoft.com/office/drawing/2014/main" id="{E9362FAD-12B7-449B-82EE-42E28711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39090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Anaesthesia duration ≥60 min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5,449</a:t>
            </a:r>
          </a:p>
        </p:txBody>
      </p:sp>
      <p:sp>
        <p:nvSpPr>
          <p:cNvPr id="20" name="A-exclusion-4">
            <a:extLst xmlns:a="http://schemas.openxmlformats.org/drawingml/2006/main">
              <a:ext uri="{FF2B5EF4-FFF2-40B4-BE49-F238E27FC236}">
                <a16:creationId xmlns:a16="http://schemas.microsoft.com/office/drawing/2014/main" id="{B679940B-C07F-4B73-B0A9-634B761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 (n = 110)</a:t>
            </a:r>
          </a:p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Duration &lt;60 min</a:t>
            </a:r>
          </a:p>
        </p:txBody>
      </p:sp>
      <p:cxnSp>
        <p:nvCxnSpPr>
          <p:cNvPr id="21" name="A-exclusion-link-4">
            <a:extLst xmlns:a="http://schemas.openxmlformats.org/drawingml/2006/main">
              <a:ext uri="{FF2B5EF4-FFF2-40B4-BE49-F238E27FC236}">
                <a16:creationId xmlns:a16="http://schemas.microsoft.com/office/drawing/2014/main" id="{B74C92AB-2D92-492D-8E64-09B85EF3B081}"/>
              </a:ext>
            </a:extLst>
          </p:cNvPr>
          <p:cNvCxnSpPr/>
          <p:nvPr/>
        </p:nvCxnSpPr>
        <p:spPr>
          <a:xfrm xmlns:a="http://schemas.openxmlformats.org/drawingml/2006/main">
            <a:off x="1143000" y="32480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22" name="A-stage-6">
            <a:extLst xmlns:a="http://schemas.openxmlformats.org/drawingml/2006/main">
              <a:ext uri="{FF2B5EF4-FFF2-40B4-BE49-F238E27FC236}">
                <a16:creationId xmlns:a16="http://schemas.microsoft.com/office/drawing/2014/main" id="{C4C1779C-8F81-4364-A0F0-63595B2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9575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Arterial MAP track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3,315</a:t>
            </a:r>
          </a:p>
        </p:txBody>
      </p:sp>
      <p:sp>
        <p:nvSpPr>
          <p:cNvPr id="24" name="A-exclusion-5">
            <a:extLst xmlns:a="http://schemas.openxmlformats.org/drawingml/2006/main">
              <a:ext uri="{FF2B5EF4-FFF2-40B4-BE49-F238E27FC236}">
                <a16:creationId xmlns:a16="http://schemas.microsoft.com/office/drawing/2014/main" id="{83A6CF01-D79F-4472-9CFA-E109D3CB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6237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 (n = 2,134)</a:t>
            </a:r>
          </a:p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arterial MAP track</a:t>
            </a:r>
          </a:p>
        </p:txBody>
      </p:sp>
      <p:cxnSp>
        <p:nvCxnSpPr>
          <p:cNvPr id="25" name="A-exclusion-link-5">
            <a:extLst xmlns:a="http://schemas.openxmlformats.org/drawingml/2006/main">
              <a:ext uri="{FF2B5EF4-FFF2-40B4-BE49-F238E27FC236}">
                <a16:creationId xmlns:a16="http://schemas.microsoft.com/office/drawing/2014/main" id="{14D1D4BA-3EA2-4366-A8E3-375EBF1BB274}"/>
              </a:ext>
            </a:extLst>
          </p:cNvPr>
          <p:cNvCxnSpPr/>
          <p:nvPr/>
        </p:nvCxnSpPr>
        <p:spPr>
          <a:xfrm xmlns:a="http://schemas.openxmlformats.org/drawingml/2006/main">
            <a:off x="1143000" y="3952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26" name="A-stage-7">
            <a:extLst xmlns:a="http://schemas.openxmlformats.org/drawingml/2006/main">
              <a:ext uri="{FF2B5EF4-FFF2-40B4-BE49-F238E27FC236}">
                <a16:creationId xmlns:a16="http://schemas.microsoft.com/office/drawing/2014/main" id="{758C128E-1499-406C-B170-5FC54C0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80060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 coverage ≥80%</a:t>
            </a:r>
          </a:p>
          <a:p xmlns:a="http://schemas.openxmlformats.org/drawingml/2006/main">
            <a:pPr algn="ctr">
              <a:defRPr sz="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2,435 records; 2,380 patients</a:t>
            </a:r>
          </a:p>
        </p:txBody>
      </p:sp>
      <p:sp>
        <p:nvSpPr>
          <p:cNvPr id="28" name="A-exclusion-6">
            <a:extLst xmlns:a="http://schemas.openxmlformats.org/drawingml/2006/main">
              <a:ext uri="{FF2B5EF4-FFF2-40B4-BE49-F238E27FC236}">
                <a16:creationId xmlns:a16="http://schemas.microsoft.com/office/drawing/2014/main" id="{C18BD05D-3C2B-4DED-B7BD-22AAE907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672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 (n = 880)</a:t>
            </a:r>
          </a:p>
          <a:p xmlns:a="http://schemas.openxmlformats.org/drawingml/2006/main">
            <a:pPr algn="ctr">
              <a:defRPr sz="7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 coverage &lt;80%</a:t>
            </a:r>
          </a:p>
        </p:txBody>
      </p:sp>
      <p:cxnSp>
        <p:nvCxnSpPr>
          <p:cNvPr id="29" name="A-exclusion-link-6">
            <a:extLst xmlns:a="http://schemas.openxmlformats.org/drawingml/2006/main">
              <a:ext uri="{FF2B5EF4-FFF2-40B4-BE49-F238E27FC236}">
                <a16:creationId xmlns:a16="http://schemas.microsoft.com/office/drawing/2014/main" id="{39A1AD5D-68DE-4C2D-9F00-1F46AD325A1D}"/>
              </a:ext>
            </a:extLst>
          </p:cNvPr>
          <p:cNvCxnSpPr/>
          <p:nvPr/>
        </p:nvCxnSpPr>
        <p:spPr>
          <a:xfrm xmlns:a="http://schemas.openxmlformats.org/drawingml/2006/main">
            <a:off x="1143000" y="46577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222222"/>
            </a:solidFill>
            <a:tailEnd type="triangle" w="med" len="med"/>
          </a:ln>
        </p:spPr>
      </p:cxnSp>
      <p:sp>
        <p:nvSpPr>
          <p:cNvPr id="30" name="A-reference-definition">
            <a:extLst xmlns:a="http://schemas.openxmlformats.org/drawingml/2006/main">
              <a:ext uri="{FF2B5EF4-FFF2-40B4-BE49-F238E27FC236}">
                <a16:creationId xmlns:a16="http://schemas.microsoft.com/office/drawing/2014/main" id="{03A893C4-059E-4E6A-B90F-3CAC1FAF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4483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3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3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 s reference; episodes ≥60 s</a:t>
            </a:r>
          </a:p>
        </p:txBody>
      </p:sp>
      <p:sp>
        <p:nvSpPr>
          <p:cNvPr id="31" name="B-VitalDB-retained-analysis-set">
            <a:extLst xmlns:a="http://schemas.openxmlformats.org/drawingml/2006/main">
              <a:ext uri="{FF2B5EF4-FFF2-40B4-BE49-F238E27FC236}">
                <a16:creationId xmlns:a16="http://schemas.microsoft.com/office/drawing/2014/main" id="{4E4A7C3A-8E48-460A-B01E-2CD5F9CE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1500"/>
            <a:ext cx="2390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VitalDB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2,387 records; 2,336 patients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7,254.7 valid reference hours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3,951 episodes</a:t>
            </a:r>
          </a:p>
        </p:txBody>
      </p:sp>
      <p:sp>
        <p:nvSpPr>
          <p:cNvPr id="32" name="B-MIMIC-retained-analysis-set">
            <a:extLst xmlns:a="http://schemas.openxmlformats.org/drawingml/2006/main">
              <a:ext uri="{FF2B5EF4-FFF2-40B4-BE49-F238E27FC236}">
                <a16:creationId xmlns:a16="http://schemas.microsoft.com/office/drawing/2014/main" id="{F406D65C-3A0F-486A-9074-2D42AB5E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43100"/>
            <a:ext cx="2390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MIMIC-IV Waveform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 records; 50 patients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1,918.1 valid reference hours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1,173 episodes</a:t>
            </a:r>
          </a:p>
        </p:txBody>
      </p:sp>
      <p:sp>
        <p:nvSpPr>
          <p:cNvPr id="33" name="B-SICdb-retained-analysis-set">
            <a:extLst xmlns:a="http://schemas.openxmlformats.org/drawingml/2006/main">
              <a:ext uri="{FF2B5EF4-FFF2-40B4-BE49-F238E27FC236}">
                <a16:creationId xmlns:a16="http://schemas.microsoft.com/office/drawing/2014/main" id="{8CDCA020-7C0E-428F-B2B9-46CA8CBB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2390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22222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SICdb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23,466 records; 18,753 patients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1,716,556.1 valid reference hours</a:t>
            </a:r>
          </a:p>
          <a:p xmlns:a="http://schemas.openxmlformats.org/drawingml/2006/main">
            <a:pPr algn="ctr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1,276,123 episodes</a:t>
            </a:r>
          </a:p>
        </p:txBody>
      </p:sp>
      <p:sp>
        <p:nvSpPr>
          <p:cNvPr id="34" name="B-reference-definition">
            <a:extLst xmlns:a="http://schemas.openxmlformats.org/drawingml/2006/main">
              <a:ext uri="{FF2B5EF4-FFF2-40B4-BE49-F238E27FC236}">
                <a16:creationId xmlns:a16="http://schemas.microsoft.com/office/drawing/2014/main" id="{FA190DFD-BCF0-4D70-954C-7BF8268B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05350"/>
            <a:ext cx="2390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Minute-level reference</a:t>
            </a:r>
          </a:p>
          <a:p xmlns:a="http://schemas.openxmlformats.org/drawingml/2006/main">
            <a:pPr algn="l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 &lt;65 mmHg; 5 min display</a:t>
            </a:r>
          </a:p>
          <a:p xmlns:a="http://schemas.openxmlformats.org/drawingml/2006/main">
            <a:pPr algn="l">
              <a:defRPr sz="8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Episodes ≥180 s</a:t>
            </a:r>
          </a:p>
        </p:txBody>
      </p:sp>
      <p:sp>
        <p:nvSpPr>
          <p:cNvPr id="35" name="B-selection-details">
            <a:extLst xmlns:a="http://schemas.openxmlformats.org/drawingml/2006/main">
              <a:ext uri="{FF2B5EF4-FFF2-40B4-BE49-F238E27FC236}">
                <a16:creationId xmlns:a16="http://schemas.microsoft.com/office/drawing/2014/main" id="{DEF7FA51-F429-42A6-AA8C-8F3DCBE6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483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3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3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Full selection rules: SDC 1</a:t>
            </a:r>
          </a:p>
        </p:txBody>
      </p:sp>
    </p:spTree>
    <p:extLst>
      <p:ext uri="{BB962C8B-B14F-4D97-AF65-F5344CB8AC3E}">
        <p14:creationId xmlns:p14="http://schemas.microsoft.com/office/powerpoint/2010/main" val="1141333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2026-10-15T11:19:27.7950000Z</dcterms:created>
  <dcterms:modified xsi:type="dcterms:W3CDTF">2026-10-15T11:19:27.7950000Z</dcterms:modified>
</coreProperties>
</file>